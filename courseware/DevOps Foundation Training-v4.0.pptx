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work (hours)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Design</c:v>
                </c:pt>
                <c:pt idx="1">
                  <c:v>Build</c:v>
                </c:pt>
                <c:pt idx="2">
                  <c:v>Review</c:v>
                </c:pt>
                <c:pt idx="3">
                  <c:v>Test</c:v>
                </c:pt>
                <c:pt idx="4">
                  <c:v>Release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4</c:v>
                </c:pt>
                <c:pt idx="1">
                  <c:v>6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Queue / wait (hours)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Sheet1!$A$2:$A$6</c:f>
              <c:strCache>
                <c:ptCount val="5"/>
                <c:pt idx="0">
                  <c:v>Design</c:v>
                </c:pt>
                <c:pt idx="1">
                  <c:v>Build</c:v>
                </c:pt>
                <c:pt idx="2">
                  <c:v>Review</c:v>
                </c:pt>
                <c:pt idx="3">
                  <c:v>Test</c:v>
                </c:pt>
                <c:pt idx="4">
                  <c:v>Release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18</c:v>
                </c:pt>
                <c:pt idx="3">
                  <c:v>10</c:v>
                </c:pt>
                <c:pt idx="4">
                  <c:v>20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Users initially exposed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Big-bang</c:v>
                </c:pt>
                <c:pt idx="1">
                  <c:v>Blue-green</c:v>
                </c:pt>
                <c:pt idx="2">
                  <c:v>Canary 10%</c:v>
                </c:pt>
                <c:pt idx="3">
                  <c:v>Feature flag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100</c:v>
                </c:pt>
                <c:pt idx="1">
                  <c:v>50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Rollback effort index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Big-bang</c:v>
                </c:pt>
                <c:pt idx="1">
                  <c:v>Blue-green</c:v>
                </c:pt>
                <c:pt idx="2">
                  <c:v>Canary 10%</c:v>
                </c:pt>
                <c:pt idx="3">
                  <c:v>Feature flag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10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Touch time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Feature A</c:v>
                </c:pt>
                <c:pt idx="1">
                  <c:v>Feature B</c:v>
                </c:pt>
                <c:pt idx="2">
                  <c:v>Feature C</c:v>
                </c:pt>
                <c:pt idx="3">
                  <c:v>Hotfix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22</c:v>
                </c:pt>
                <c:pt idx="1">
                  <c:v>18</c:v>
                </c:pt>
                <c:pt idx="2">
                  <c:v>31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Waiting time (%)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Feature A</c:v>
                </c:pt>
                <c:pt idx="1">
                  <c:v>Feature B</c:v>
                </c:pt>
                <c:pt idx="2">
                  <c:v>Feature C</c:v>
                </c:pt>
                <c:pt idx="3">
                  <c:v>Hotfix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78</c:v>
                </c:pt>
                <c:pt idx="1">
                  <c:v>82</c:v>
                </c:pt>
                <c:pt idx="2">
                  <c:v>69</c:v>
                </c:pt>
                <c:pt idx="3">
                  <c:v>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Login outage</c:v>
                </c:pt>
                <c:pt idx="1">
                  <c:v>Slow report</c:v>
                </c:pt>
                <c:pt idx="2">
                  <c:v>Rare data defect</c:v>
                </c:pt>
                <c:pt idx="3">
                  <c:v>Alert noise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5</c:v>
                </c:pt>
                <c:pt idx="1">
                  <c:v>2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Login outage</c:v>
                </c:pt>
                <c:pt idx="1">
                  <c:v>Slow report</c:v>
                </c:pt>
                <c:pt idx="2">
                  <c:v>Rare data defect</c:v>
                </c:pt>
                <c:pt idx="3">
                  <c:v>Alert noise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2</c:v>
                </c:pt>
                <c:pt idx="1">
                  <c:v>5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Login outage</c:v>
                </c:pt>
                <c:pt idx="1">
                  <c:v>Slow report</c:v>
                </c:pt>
                <c:pt idx="2">
                  <c:v>Rare data defect</c:v>
                </c:pt>
                <c:pt idx="3">
                  <c:v>Alert noise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Setup effort index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Manual release</c:v>
                </c:pt>
                <c:pt idx="1">
                  <c:v>Scripted</c:v>
                </c:pt>
                <c:pt idx="2">
                  <c:v>Pipeline</c:v>
                </c:pt>
                <c:pt idx="3">
                  <c:v>Platform paved road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Effort per change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Manual release</c:v>
                </c:pt>
                <c:pt idx="1">
                  <c:v>Scripted</c:v>
                </c:pt>
                <c:pt idx="2">
                  <c:v>Pipeline</c:v>
                </c:pt>
                <c:pt idx="3">
                  <c:v>Platform paved road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10</c:v>
                </c:pt>
                <c:pt idx="1">
                  <c:v>6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Consistency</c:v>
                </c:pt>
              </c:strCache>
            </c:strRef>
          </c:tx>
          <c:spPr>
            <a:ln w="31750">
              <a:solidFill>
                <a:srgbClr val="7C3AED"/>
              </a:solidFill>
            </a:ln>
          </c:spPr>
          <c:cat>
            <c:strRef>
              <c:f>Sheet1!$A$2:$A$5</c:f>
              <c:strCache>
                <c:ptCount val="4"/>
                <c:pt idx="0">
                  <c:v>Manual release</c:v>
                </c:pt>
                <c:pt idx="1">
                  <c:v>Scripted</c:v>
                </c:pt>
                <c:pt idx="2">
                  <c:v>Pipeline</c:v>
                </c:pt>
                <c:pt idx="3">
                  <c:v>Platform paved road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Deployments / week</c:v>
                </c:pt>
                <c:pt idx="1">
                  <c:v>Lead time (hours)</c:v>
                </c:pt>
                <c:pt idx="2">
                  <c:v>Change fail rate (%)</c:v>
                </c:pt>
                <c:pt idx="3">
                  <c:v>Recovery time (hours)</c:v>
                </c:pt>
                <c:pt idx="4">
                  <c:v>Rework rate (%)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2</c:v>
                </c:pt>
                <c:pt idx="1">
                  <c:v>48</c:v>
                </c:pt>
                <c:pt idx="2">
                  <c:v>24</c:v>
                </c:pt>
                <c:pt idx="3">
                  <c:v>8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90-day target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Sheet1!$A$2:$A$6</c:f>
              <c:strCache>
                <c:ptCount val="5"/>
                <c:pt idx="0">
                  <c:v>Deployments / week</c:v>
                </c:pt>
                <c:pt idx="1">
                  <c:v>Lead time (hours)</c:v>
                </c:pt>
                <c:pt idx="2">
                  <c:v>Change fail rate (%)</c:v>
                </c:pt>
                <c:pt idx="3">
                  <c:v>Recovery time (hours)</c:v>
                </c:pt>
                <c:pt idx="4">
                  <c:v>Rework rate (%)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5</c:v>
                </c:pt>
                <c:pt idx="1">
                  <c:v>20</c:v>
                </c:pt>
                <c:pt idx="2">
                  <c:v>15</c:v>
                </c:pt>
                <c:pt idx="3">
                  <c:v>3</c:v>
                </c:pt>
                <c:pt idx="4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Teams on paved road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lead-time improvement (%)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8</c:v>
                </c:pt>
                <c:pt idx="1">
                  <c:v>18</c:v>
                </c:pt>
                <c:pt idx="2">
                  <c:v>31</c:v>
                </c:pt>
                <c:pt idx="3">
                  <c:v>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Repeat incidents reduced (%)</c:v>
                </c:pt>
              </c:strCache>
            </c:strRef>
          </c:tx>
          <c:spPr>
            <a:ln w="31750">
              <a:solidFill>
                <a:srgbClr val="7C3AED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4</c:v>
                </c:pt>
                <c:pt idx="1">
                  <c:v>12</c:v>
                </c:pt>
                <c:pt idx="2">
                  <c:v>25</c:v>
                </c:pt>
                <c:pt idx="3">
                  <c:v>38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1874519"/>
            <a:ext cx="5440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440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DevOps Foundation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5440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TGS-2024049184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v4.0  ·  20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99632"/>
            <a:ext cx="5440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Take every required SSG digital attendance for this two-day WSQ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displays the QR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your mobile camera to scan the current session's SSG QR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successfully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Wait for confirmation before closing the attendance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Attendance and competent assessment outcomes determine course completion eligibility.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profile 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personal information is optional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Founder &amp; Chief Training Officer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More than 20 years across software engineering, AI, data analytics and cloud computing.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(NUS), DACE, ACTA and GCWLP among professional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COURSE 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Agile flow, CI/CD automation, cloud delivery and evidence-led problem management.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TEACHING APPROACH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Connects concepts to workplace decisions, reproducible data and auditable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Introduce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 your 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Recall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Name one delivery or operational problem you have seen recur.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Choose one outcome: faster flow, safer change, stronger investigation or clearer reporting.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PSYCHOLOGICAL SAFETY · 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Ask, challenge and contribute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Critique the system or idea, not the person.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only the synthetic datasets in the labs.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 from failure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failed script or hypothesis is feedback.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 punctual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Return on time and complete attendance.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Stay focused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conversation and one shared problem at a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VISUAL DOWNLOAD FLOW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LMS-TMS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218770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Course portal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785616"/>
            <a:ext cx="218770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your registered email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this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785616"/>
            <a:ext cx="218770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DevOps Foundation Training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785616"/>
            <a:ext cx="218770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LG, LP and Labs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Learner Guide and approved course materials available for the assessment.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14 HOURS DELIVERY · 2 HOURS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· DevOps foundations, flow, feedback, practices and investigation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Exploring DevOps and the problem lifecycle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Three Ways, constraints and automated feedback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CI/CD, SRE, resilience, DevSecOps, ChatOps and Kanban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Agile, Lean, ITSM and evidence-led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· Culture, automation, measurement, leadership and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Culture, behaviour, maturity and priority policy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Automation, architecture, toolchains and platforms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DORA metrics, reliability and problem documentation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Leadership, capstone, WA and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Manage the lifecycle of problems using DevOps principles and technologies.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Perform investigations and develop DevOps methods for problem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Recommend DevOps solutions and monitor documentation for problem solving.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Problem Management · ICT-OUS-4011-1.1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 —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Principles of problem management throughout its lifecycle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Relevant tools, processes and technologies for problem identification, investigation, analysis and resolution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Problem investigation and diagnosis techniques and methodologies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Problem prioritisation and sizing techniques, methodologies and parameters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Best practices and industry standards in problem-management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Problem Management · ICT-OUS-4011-1.1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 —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 the lifecycle of a wide range of problems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Introduce technologies and processes for automated detection of incidents or problems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Investigate and deeply analyse a problem to understand its root causes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Develop guidelines for prioritising and categorising problems by severity, frequency and implications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 solutions that address root causes and minimise recurrence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documentation and tracking of problems encountered and resolved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EIGHT DEVOPS FOUNDATION DOMAINS · EIGHT R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01 · Exploring DevOps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Purpose · business value · problem lifecycle · K1 · A1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02 · Core DevOps Principles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Three Ways · constraints · learning · automated feedback · K2 · 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03 · Key DevOps Practices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CI/CD · testing · SRE · resilience · DevSecOps · ChatOps · Kanban · K2 · A2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04 · Business and Technology Frameworks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Agile · Lean · ITSM · safety culture · learning organisation · K3 · A3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05 · Culture, Behaviours and Operating Models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CALMS · cultural debt · Westrum · maturity · team design · K4 · 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06 · Automation and DevOps Toolchains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CI/CD · cloud · containers · microservices · IaC · AIOps · platform engineering · K4 · A4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07 · Measurement, Metrics and Reporting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DORA · reliability · flow · business value · problem records · K5 · A6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08 · Sharing, Shadowing and Evolving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Enterprise adoption · leadership · roles · communities · critical success factors · K5 · A5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HANDS-ON WITHOUT PRODUCTION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 Lab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 4.x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lab uses base R only; no paid cloud account or external package is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Self-contained folders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lab includes its script, synthetic data, detailed guide, checklist and expected outputs.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Reproducible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Scripts validate inputs and emit a LAB NN PASS marker plus CSV/PNG/Markdown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Connected storyline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Northstar Retail evidence progresses from detection to a capstone problem recommendation.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discussion, recording or sharing of assessment scripts.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course slides, Learner Guide and approved materials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WA-SAQ: 60 minutes · Case Study: 60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document provided and upload it to the LMS-TMS.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your own words; black or blue pen for hard copy; no correction fluid.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Competent or Not Yet Competent; reassessment and appeal rights apply.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WA-SAQ +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Five open-ended questions cover K1–K5.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Case Study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connected tasks cover A1–A6.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Traceability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Every question is taught; every ability is practised in the R labs.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Trainer-only keys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Answer keys are withheld from LMS and public GitHub.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course feedback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questions · 60 min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tasks · 60 min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 upload and sign-off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BOUNDARY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Only candidate papers are learner-facing; answer keys remain trainer-only.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CERTIFICATION CONTEXT · NO EXAM DUMPS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 &amp; Certification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Official exam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PeopleCert currently lists 40 multiple-choice questions, 60 minutes, open book and a 65% pass mark.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Official study 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DevOps Institute v3.4 guide includes the blueprint, terminology and two sample exams.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Tertiary practice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matching DevOps Foundation bank was listed on 20 August 2026; do not practise on an unrelated certification.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Readiness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Study the blueprint, apply the R labs, explain trade-offs aloud, then use only authorised sample questions.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CONTENT SOURCE ≠ DESIGN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and Version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WSQ 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Course Proposal v2 and TSC mapping define duration, LO, K/A and WA+CS instruments.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Legacy coverage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v3 deck contributes useful subject coverage only; its layout and incorrect cloud K/A slide were not copied.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Certification depth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DevOps Institute DOFD v3.4 supplies the eight-domain blueprint and vocabulary.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Current research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PeopleCert and DORA update platform, AI and current five-metric performance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Secondary 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User-supplied study pages inform study strategy; no proprietary questions are reproduced.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Current release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v4.0 · 20 August 2026 · all artifacts regenerated from one source.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 · LO1 · K1 ·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Exploring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Purpose · business value · problem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5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Exploring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DevOps is a sociotechnical system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People, process and technology optimise one value stream; a tools-only programme is not DevOps.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Shared ownership replaces hand-offs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Development, operations, quality and security own flow and reliability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Small batches expose problems early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Frequent, reversible changes shorten feedback and reduce the blast radius of failure.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Problems become learning assets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Detection, investigation, resolution and prevention are connected through explicit records and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DevOps: What It Is — 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DevOps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Common misconception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culture and operating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new job title or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Fast, safe flow of customer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Maximum deployment volume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Idea through operate and learn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Only CI/CD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Evidence, guardrails and feedback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Removing governance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this distinction when diagnosing a transformation that has bought tools but retained siloed incentives.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Problem Lifecycle in a DevOps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Telemetry reveals a signal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one problem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 before opinion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Treat cause and impact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and prevent…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LO1 CONNECTION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 is demonstrated by managing the whole lifecycle, not merely closing an incident.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Waiting Dominates Lead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largest improvement opportunity is often the queue between teams, not faster typing inside one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DevOps Business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Shorter lead time turns feedback into value sooner.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Small changes and automation make releases easier to diagnose and reverse.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Testing, observability and shared ownership prevent defects escaping unnoticed.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Blameless review converts failure into changes to the system of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Stakeholders in One Value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Clarifies value and outcome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Prioritises by customer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Builds in small testable increments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Owns operability with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Operations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Designs reliability guardrails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Feeds production learning upstream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Core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Optimise the whole system, not a local silo.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faster development team does not create faster value when review, release or recovery remains constrained.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Incident-to-Problem Lifecycle Baseline in 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K1 and A1 by managing a supplied incident dataset through detection, logging, investigation, resolution and learning states.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R to validate problem records, calculate lifecycle duration, expose ageing work and produce a management summary.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clean lifecycle_summary.csv, ageing_problems.csv and lifecycle_status.png backed by a repeatable R script.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CSV · PNG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script exits with 'LAB 01 PASS'; all eight records are represented; open problems are ranked by ageing days; status totals reconcile to the source rows.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01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Incident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Lifecycle fields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 transitions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Ageing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Elapsed time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Bottleneck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Queue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Problem choice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Highest exposure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Reconciled totals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01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Incident-to-Problem Lifecycle Baseline in 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script exits with 'LAB 01 PASS'; all eight records are represented; open problems are ranked by ageing days; status totals reconcile to the source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01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Exploring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People, process and technology optimise one value stream; a tools-only programme is not DevOps.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Development, operations, quality and security own flow and reliability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K1 and A1 by managing a supplied incident dataset through detection, logging, investigation, resolution and learning states.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script exits with 'LAB 01 PASS'; all eight records are represented; open problems are ranked by ageing days; status totals reconcile to the source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 · LO1 · K2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Core DevOps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Three Ways · constraints · learning · automated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4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Core DevOps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First Way — 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Visualise work, reduce batch size and remove the system constraint.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Second Way — feedback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fast signals from production and customers back to the people changing the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Third Way — learning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safety for experimentation, repetition and improvement.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 supports judgement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Automate repeatable checks; keep people accountable for thresholds, risk and learning.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28879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28879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3817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817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3032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3105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Left to right value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50080" y="2148840"/>
            <a:ext cx="328879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0080" y="2148840"/>
            <a:ext cx="328879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8096" y="3118104"/>
            <a:ext cx="3032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520" y="3785616"/>
            <a:ext cx="3105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Right to left learning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22920" y="2148840"/>
            <a:ext cx="328879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2920" y="2148840"/>
            <a:ext cx="328879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8385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385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0936" y="3118104"/>
            <a:ext cx="3032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4360" y="3785616"/>
            <a:ext cx="3105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Experiment and improve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SYSTEM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three reinforce each other: flow without feedback accelerates mistakes; feedback without learning repeats them.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Traditional Batch vs Continuous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Design 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Traditional batch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Continuous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release package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Small independently releasable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daily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After release window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every pipeline stage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Complex rollback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Fast revert or progressive rollout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Theory of Constraints Improvement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Find the current…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Exploit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its useful…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Subordinate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other work to 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Elevate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Increase capacity or…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Find the next constraint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Optimising a non-constraint creates local efficiency but not better end-to-end flow.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Fast Feedback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Static checks and unit tests respond in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Pipeline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Build, integration and security checks create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Logs, metrics, traces and user journeys show real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Outcome and support feedback closes the value loop.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Fail-Safe vs Safe-to-Fail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Fail-safe mindset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Safe-to-fail mindset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Assumption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Failure can be designed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Failure will occur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approval and prediction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Limit impact and recover fast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pre-release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Feature flags, canary, rollback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Find who deviated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Improve conditions and controls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Safety culture does not mean accepting reckless change; it means making risk visible, bounded and learnable.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Automation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Automate the feedback, not the thinking.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threshold can detect a symptom; people still determine relevance, root cause, priority and the systemic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Actionable Service Signals in 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K2 and A2 by designing an automated detection rule that produces specific, severity-ranked problem signals without excessive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Calculate robust z-scores and consecutive-breach logic from telemetry, then create an actionable alert register.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detected_alerts.csv with severity, evidence and action plus a telemetry_detection.png chart.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telemetry · automated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final rule emits exactly two sustained alert windows, no single-point spike alert, and every alert has a non-empty owner and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02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 signals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Normal behaviour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Sustained breach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Impact band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action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Noise review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02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Actionable Service Signals in 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final rule emits exactly two sustained alert windows, no single-point spike alert, and every alert has a non-empty owner and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02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Core DevOps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Visualise work, reduce batch size and remove the system constraint.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fast signals from production and customers back to the people changing the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K2 and A2 by designing an automated detection rule that produces specific, severity-ranked problem signals without excessive noise.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final rule emits exactly two sustained alert windows, no single-point spike alert, and every alert has a non-empty owner and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 · LO1 · K2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Key DevOps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CI/CD · testing · SRE · resilience · DevSecOps · ChatOps · Kanban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7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Key DevOps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Continuous integration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Frequent integration into a shared mainline, verified by an automated build and tests.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Continuous delivery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accepted change remains deployable; a business decision may still trigger production release.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Continuous deployment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accepted change automatically reaches production.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Operability by design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SRE, observability, resilience and security are part of the product, not downstream inspections.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Modern Delivery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Versioned change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Reproducible artifact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Quality and security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and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Progressive and reversible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 and user signals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stage must produce evidence that the next stage can trust.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CI, Delivery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End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Human production decision?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Continuous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Tested integrated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Not applicable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Continuous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Always releasable artifact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Usually 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Continuous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Accepted change in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manual release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Progressive Delivery Reduces Blast Radius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Progressive strategies reduce initial exposure and make rollback cheaper; they require strong observability.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Reliability Engineering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Service-level objectives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Error budgets balance reliability and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for graceful degradation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recovery assumptions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Logs, metrics and traces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Ask new questions without new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DevSecOps: Security as Continuous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Shift left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Threat modelling, dependencies and code scanning before merge.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 pipeline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Signed artifacts, least privilege and isolated secrets.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Shift right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Runtime detection, attack simulation and rapid containment.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Shared accountability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Security supplies guardrails; product teams own secure outcomes.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ChatOps and Kanban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Makes visible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Problem-management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ChatOps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Conversation, actions and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shared incident narrative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Kanban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Work, policy and blocked 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Limits work in progress and exposes ageing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Together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Flow plus collaboration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Faster coordinated diagnosis and resolution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Investigate Recurring Failure Causes with Pareto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K2 and A2 while preparing evidence for A3: distinguish symptoms from cause candidates and identify recurring categories worth deeper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R to aggregate failure frequency and lost minutes, create a Pareto chart and initialise an evidence-led 5 Whys worksheet.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cause_pareto.csv, pareto_failures.png and five_whys_template.csv.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Pareto · 5 Whys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LAB 03 PASS is printed; cumulative percentage ends at 100%; the leading category is supported by both count and lost-minute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03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Failure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Category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Cumulative loss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Vital few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Hypotheses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Possible causes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5 Whys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Causal chain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Limits stated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03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Investigate Recurring Failure Causes with Pareto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LAB 03 PASS is printed; cumulative percentage ends at 100%; the leading category is supported by both count and lost-minute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Key DevOps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Frequent integration into a shared mainline, verified by an automated build and tests.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accepted change remains deployable; a business decision may still trigger production release.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K2 and A2 while preparing evidence for A3: distinguish symptoms from cause candidates and identify recurring categories worth deeper investigation.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 03 PASS is printed; cumulative percentage ends at 100%; the leading category is supported by both count and lost-minute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 · LO2 · K3 ·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Business and Technology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Agile · Lean · ITSM · safety culture · learning organisation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7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Business and Technology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Agile improves discovery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Short iterations and customer feedback refine what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Lean improves 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Remove delay, overproduction, hand-offs and rework from the value stream.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ITSM provides service discipline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Incident, problem and change practices create ownership and traceability.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enables truthful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People report weak signals and mistakes when the organisation learns rather than blames.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04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Frameworks Complement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Primary lens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Adaptive product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Small increments and customer feedback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End-to-end value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Waste reduction and constraint focus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ITSM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Reliable service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Ownership, records and controlled change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Sociotechnical delivery 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Integrates culture, flow, automation and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Evidence-Led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impact and scope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Timeline, telemetry…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Hypothesise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Candidate causes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Falsify with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Conclude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Cause and contributing…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A3 STANDARD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Separate observed fact, inference and decision in the problem record.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Techniques — Choose by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Whys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Fast exploration of a causal chain; stop when evidence stops.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Fishbone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Organise candidate causes across people, process, technology and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Reconstruct what changed and when; useful for complex incidents.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Pareto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Identify the few recurring categories that drive most impact.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Flow Efficiency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Most elapsed time is waiting. A Lean investigation asks why work is queued, blocked or handed 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04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vs Problem vs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Done when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Incident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How do we restore service?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Impact is controlled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Problem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Why did it happen and recur?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Cause and prevention are managed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How do we alter the service safely?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Evidence shows intended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Just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Hold people accountable for learning, not for being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Examine choices in context, improve the system, and distinguish honest error from reckless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Prioritise Problems by Severity, Frequency 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K3 and A3 by defining evidence, then K4 and A4 by applying a transparent prioritisation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R to normalise evidence, calculate a transparent priority score and test how confidence and effort affect sequencing.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ranked problem_priority.csv and priority_matrix.png with documented scoring assumptions.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prioritisation · impact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score is reproducible from the published formula; ranks are unique; the top two recommendations cite impact, evidence confidence and effort.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04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Problem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Comparable fields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Consequence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Recurrence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loss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 quality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Transparent score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04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Prioritise Problems by Severity, Frequency 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score is reproducible from the published formula; ranks are unique; the top two recommendations cite impact, evidence confidence and effort.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04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Business and Technology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 iterations and customer feedback refine what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delay, overproduction, hand-offs and rework from the value stream.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K3 and A3 by defining evidence, then K4 and A4 by applying a transparent prioritisation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score is reproducible from the published formula; ranks are unique; the top two recommendations cite impact, evidence confidence and effort.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 · LO2 · K4 ·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Culture, Behaviours and Operating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CALMS · cultural debt · Westrum · maturity · team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6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Culture, Behaviours and Operating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Culture is observable behaviour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How information flows, risk is escalated and decisions are made matters more than slogans.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Cultural debt compounds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Workarounds, fear and unclear ownership make each future change slower and riskier.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Priority policy must be explicit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Severity, frequency, impact and urgency should be scored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Maturity is contextual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models to guide conversation and experiments, never as a vanity ranking.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CALMS as a Transformation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Shared ownership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Psychological safety and trust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Automation &amp; 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Repeatable feedback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Small batches and reduced waste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Measurement &amp; Sharing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Outcome evidence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Learning across boundaries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05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Westrum Organisational Cultures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Behaviour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Pathological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Bureaucratic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Generative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Channels enforced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Actively sought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Scapegoat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Local justice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Inquiry and learning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Novelty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Crushed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Creates problems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Responsibility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Avoided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Compartmentalised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Signal to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bad is the impact?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often does it recur?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and what is affected?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could happen next?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Sequence with capacity…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A4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 the scoring rule so two teams reach comparable decisions from the same evidence.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Priority Is Not Severity Alone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severe rare issue and a lower-severity recurring issue can both deserve attention for different reasons.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Team Operating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team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Owns customer outcome and service operation end to 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Platform team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Provides a paved road that reduces cognitive load.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Enabling team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Builds capability temporarily, then moves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Complicated subsystem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Owns specialist components requiring deep expertise.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Maturity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Improve the next constraint; do not perform maturity theatre.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useful maturity model reveals the next experiment and evidence of progress—not a trophy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Pipeline Flow and Cultural Debt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K4 and A4 by combining stage performance with visible queue and rework evidence to recommend a prioritised improvement.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R to calculate stage wait ratio, failure rate and rework burden, then identify the actual constraint without blaming a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pipeline_stage_summary.csv, pipeline_flow.png and a generative-culture recommendation.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flow metrics · culture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identified constraint matches the maximum wait ratio; the recommendation changes a system condition and names an outcome measure.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05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Pipeline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Active and wait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Efficiency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Constraint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Largest delay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Culture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Behaviour signal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Countermeasure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System change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Release evidence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05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Pipeline Flow and Cultural Debt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identified constraint matches the maximum wait ratio; the recommendation changes a system condition and names an outcome measure.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05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Culture, Behaviours and Operating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information flows, risk is escalated and decisions are made matters more than slogans.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Workarounds, fear and unclear ownership make each future change slower and riskier.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K4 and A4 by combining stage performance with visible queue and rework evidence to recommend a prioritised improvement.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identified constraint matches the maximum wait ratio; the recommendation changes a system condition and names an outcome measure.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06 · LO2 · K4 ·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Automation and DevOps Toolchains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CI/CD · cloud · containers · microservices · IaC · AIOps ·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5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Automation and DevOps Toolchains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the value stream first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toolchain should serve a clear flow and evidence model, not automate a broken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Everything important is versioned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Code, configuration, infrastructure, policy and documentation become reviewable and reproducible.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Loose coupling enables 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Services and teams can test, deploy, scale and fail independently.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Platforms create safe self-service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paved road standardises guardrails while preserving team autonomy.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 DevOps 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and value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Artifact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Quality and security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Progressive change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Observe and learn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Integrate evidence and ownership between tools; avoid a collection of disconnected products.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06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Architecture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Benefit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Elastic self-service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Cost, identity and provider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Portable immutable packaging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Image and runtime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Microservices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Independent change and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Distributed-system complexity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Repeatable reviewed infrastructure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State, drift and secret 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Selection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Repeatable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task occurs often enough to justify automation.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Deterministic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Inputs, rules and acceptable outputs can be specified.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Success and failure produce usable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Recoverable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failed automation can stop, retry or roll back safely.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More capable automation costs more initially but reduces effort and variation across repeated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AIOps and Generative AI — Useful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Cluster related signals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Identify unusual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Assist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Summarise evidence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Suggest hypotheses for human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Track confidence and provenance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Require approval for high-impact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06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Toolchain vs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Toolchain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Internal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Connected lifecycle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Self-service developer experience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Navigate each tool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a paved workflow or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Policies per tool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Guardrails embedded in the path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Integrated evidence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Reduced cognitive load and lead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Balance Reliability, Security and Delivery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K4 and A4 by categorising reliability and security risks, then selecting proportional automated guardrails.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R to calculate error-budget burn and security risk, then recommend automate, warn or block policies.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guardrail_decisions.csv, error_budget.png and documented trade-off decision.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SLO · DevSecOps · policy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policies are derived from published thresholds; at least one service is blocked, one warns and one proceeds automatically.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06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SLO and findings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Guardrail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signal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Rollback path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Balance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 trade-off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evidence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06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Balance Reliability, Security and Delivery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policies are derived from published thresholds; at least one service is blocked, one warns and one proceeds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06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Automation and DevOps Toolchains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toolchain should serve a clear flow and evidence model, not automate a broken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Code, configuration, infrastructure, policy and documentation become reviewable and reproducible.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K4 and A4 by categorising reliability and security risks, then selecting proportional automated guardrails.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policies are derived from published thresholds; at least one service is blocked, one warns and one proceeds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07 · LO3 · K5 · 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Measurement, Metrics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DORA · reliability · flow · business value · problem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2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Measurement, Metrics and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 outcomes and system health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balanced view covers throughput, instability, reliability, quality and business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Trends beat targets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metrics to learn over time, not to rank individuals or encourage gaming.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 matters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 one service with itself and record changes in architecture, demand and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Documentation is operational telemetry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Problem records show whether causes, actions and verification are actually closed.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07 · K5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DORA Software Delivery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Change lead time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Deployment frequency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Failed deployment recovery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Change fail rate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Deployment rework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 per service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Pair with reliability and business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K5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Baseline and Target — Example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chart mixes units deliberately for a leadership conversation; operational dashboards should separate scales and retain definitions.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07 · K5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Metric, KPI, SLI, SLO and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Any quantitative measure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Request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Measure tied to a goal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Checkout completion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Observed service measure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99.93% successful requests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Internal reliability target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99.9% success over 30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111496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5111496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5111496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5111496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External commitment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5111496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5111496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Credit if monthly availability falls below contract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07 · K5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Measurement-to-Improvement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Question and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Trusted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Context and trend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Experiment or action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Outcome and learning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ANTI-PATTERN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dashboard without a decision cadence is decoration.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K5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Problem Record — Minimum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Unique ID, service, owner, status and timestamps.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Users, duration, severity and business consequence.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Timeline, evidence, cause and contributing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Recommendation, accountable owner, due date and verification.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07 · K5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Healthy vs Harmful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Healthy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1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1347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Harmful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Team learns from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258568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258568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Individuals are ranked by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Definitions are explicit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971800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971800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Numbers are compared across unlike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Qualitative context is retained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5032"/>
            <a:ext cx="786951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5032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target becomes the whole goal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Measures drive experiments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98264"/>
            <a:ext cx="78695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98264"/>
            <a:ext cx="761347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Measures drive blame or gaming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DORA and Problem-Management Evidence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K5 and A6 by calculating documented delivery metrics and linking them to tracked problem-management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R to calculate current DORA throughput and instability metrics, connect them to repeat problems and produce a traceable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dora_metrics.csv, problem_actions.csv and dora_dashboard.png with metric definitions.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DORA · problem records · 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Five DORA measures are present; the deployment counts reconcile; every open action has an owner and due date; dashboard values match the CSV.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07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history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Frequency and lead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Failure and rework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SLO context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Problem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Owned controls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evidence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07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DORA and Problem-Management Evidence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Five DORA measures are present; the deployment counts reconcile; every open action has an owner and due date; dashboard values match the CSV.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07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Measurement, Metrics and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balanced view covers throughput, instability, reliability, quality and business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metrics to learn over time, not to rank individuals or encourage gaming.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K5 and A6 by calculating documented delivery metrics and linking them to tracked problem-management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Five DORA measures are present; the deployment counts reconcile; every open action has an owner and due date; dashboard values match the CSV.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08 · LO3 · K5 ·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Sharing, Shadowing and Evolving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Enterprise adoption · leadership · roles · communities · critical success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 WEIGHT · 4 / 40 exam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Ideas — Sharing, Shadowing and Evolving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Adoption is an evolving product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Start with a value stream, learn, improve the platform and expand through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Leaders design conditions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Align incentives, fund products, remove systemic constraints and model learning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Sharing scales learning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Communities, pairing, shadowing and reusable patterns prevent isolated success.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Recommendations need verification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 cause, action, owner, due date, risk and the signal that proves recurrence fell.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08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Safe Enterprise Adoption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value stream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Flow, quality and…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Experiment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Small bounded change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Platformise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Reuse a proven path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Communities and 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CRITICAL SUCCESS FACTOR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Scale learning and enabling capabilities before mandating standard tools everywhere.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08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Leadership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Connect DevOps to business outcomes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Make trade-offs explicit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Fund products and platforms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Remove conflicting incentives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blameless inquiry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Protect time for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08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Ways to Spread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Watch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Community of practice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Shared patterns and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Meeting without ownership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Pairing / shadowing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Tacit skill transfer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Dependency on one expert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Enablement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Accelerated adoption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Permanent ticket queue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Internal platform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Safe repeatable self-service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Platform built without user research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08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Adoption Evidence Over Four Quarters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Scale is credible when adoption and outcome evidence rise together—not when tool licences alone increase.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08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Critical Success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visible business and service problem worth solving.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Cross-functional team owns build, run and learn.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Small independently changeable components where practical.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Feedback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Trusted telemetry, customer signals and regular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Platform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Low-friction compliant paths for common work.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Leadership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Funding, incentives and behaviour support long-term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08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Root Cause to Verified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 and conditions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Prevent, detect or recover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 trade-off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Value, cost and risk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due 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85616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Metric and review date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A5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recommendation is incomplete until its success criterion and follow-up are recorded.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08 · R EVIDENCE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Produce a Verified DevOps Problem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A1–A6 in one connected case: manage the lifecycle, analyse root cause, prioritise, recommend controls and create monitorable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R to combine incident, change, telemetry and action evidence into a concise problem record and recommendations register.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problem_record.md and recommendations.csv that can be audited from detection through verification.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4.x · base R · evidence synthesis · problem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referenced IDs reconcile; the record covers detection through learning; three recommendations include owner, due date and verification; unsupported causal claims are labelled as hypotheses.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08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Capstone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Connected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Impact and scope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Supported finding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Reasoned decision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Balanced controls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date, metric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Detailed commands and numbered steps are in the Learner Guide and the lab folder—not on these slides.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08 · EVIDENCE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Produce a Verified DevOps Problem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referenced IDs reconcile; the record covers detection through learning; three recommendations include owner, due date and verification; unsupported causal claims are labelled as hypotheses.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identifiers, required fields and units with the supplied data dictionary.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the named rule and source row; preserve the check rather than bypassing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the denominator, time window and assumptions before rerunning from clean inputs.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08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Sharing, Shadowing and Evolving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Start with a value stream, learn, improve the platform and expand through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Distinguish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incentives, fund products, remove systemic constraints and model learning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A1–A6 in one connected case: manage the lifecycle, analyse root cause, prioritise, recommend controls and create monitorable documentation.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referenced IDs reconcile; the record covers detection through learning; three recommendations include owner, due date and verification; unsupported causal claims are labelled as hypotheses.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Synthesis, Assessment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→ LO2 →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Connected DevOps Problem-Management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Trusted telemetry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 and cause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Severity, frequency…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Proportional controls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decision…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Trend and share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CAPSTONE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Lab 08 and the Case Study require one traceable narrative across the complete lifecycle.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Manage a problem lifecycle and introduce automated detection with DevOps practices.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Investigate evidence, analyse root causes and apply a transparent priority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Recommend preventive, detective and recovery controls and monitor the problem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Professional practice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trade-offs across flow, reliability, security, culture and business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Designing and Implementing Microsoft DevOps Solutions (AZ-400)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Application Integration with Docker and 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DevOps Engineering on AWS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Mastering Agile Project Management for IT Projects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and Cloud Native Associate (KCNA)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POST-COURSE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LMS-TMS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— Final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WA-SAQ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open-ended knowledge questions · K1–K5 · 60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Case Study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Three connected ability tasks · A1–A6 · 60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SSG assessment attendance and TRAQOM steps.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Upload candidate papers through LMS-TMS; keys remain trainer-only.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Feedback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 minutes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 minutes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785616"/>
            <a:ext cx="12694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 / NYC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APPEAL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If you disagree with an assessment decision, use the documented reassessment and appeal process.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· 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Scan and submit at the start of the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Scan and submit after lunch.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Scan before starting the final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close the page until submission succeeds.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DEVOPS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flow visible, investigate with evidence, and turn every problem into verified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DevOps Foundation Training  ·  TGS-2024049184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